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7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82296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155448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54864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73152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46304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64008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128016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0" y="82296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48056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566928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493776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466344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0" y="576072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0" y="612648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612880" y="384048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3504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11480"/>
            <a:ext cx="100584" cy="27432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捷運盃黑客松 · 團隊「捷點星火聯盟」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8412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燎原智庫</a:t>
            </a:r>
            <a:r>
              <a:rPr lang="en-US" sz="46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460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點燃同行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66928" y="17556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以台北捷運 Go App「捷運點」為核心，導入微型社群金融 × 生成式 AI —— 讓點數從個人靜態資產，蛻變為社群動態燃料。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66928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7A2F"/>
                </a:solidFill>
              </a:rPr>
              <a:t>痛　點　POINTS PAIN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2761488"/>
            <a:ext cx="5532120" cy="1481328"/>
          </a:xfrm>
          <a:prstGeom prst="roundRect">
            <a:avLst>
              <a:gd name="adj" fmla="val 6173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2944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892808" y="29626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點數孤島效應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92808" y="338328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單人日常通勤點數零碎，難達高價值兌換門檻，導致大量點數沉睡、會員冷感。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27648" y="2761488"/>
            <a:ext cx="5532120" cy="1481328"/>
          </a:xfrm>
          <a:prstGeom prst="roundRect">
            <a:avLst>
              <a:gd name="adj" fmla="val 6173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2944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653528" y="29626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缺乏情境驅動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53528" y="338328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現行兌換模式靜態單一，缺乏即時場景誘因，點數無法轉化為 O2O (</a:t>
            </a:r>
            <a:r>
              <a:rPr lang="en-US" sz="1250" dirty="0" err="1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線上至線下</a:t>
            </a:r>
            <a:r>
              <a:rPr lang="en-US" sz="12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250" dirty="0" err="1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消費動力</a:t>
            </a:r>
            <a:r>
              <a:rPr lang="en-US" sz="12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7A2F"/>
                </a:solidFill>
              </a:rPr>
              <a:t>服務對象　TARGET USERS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89204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1B2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" y="5129784"/>
            <a:ext cx="457200" cy="457200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89888" y="5029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家庭與伴侶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389888" y="5358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通勤累積點數卻難獨力兌換高單價商品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398264" y="489204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1B2A5C"/>
          </a:solidFill>
          <a:ln/>
        </p:spPr>
      </p:sp>
      <p:sp>
        <p:nvSpPr>
          <p:cNvPr id="39" name="Shape 37"/>
          <p:cNvSpPr/>
          <p:nvPr/>
        </p:nvSpPr>
        <p:spPr>
          <a:xfrm>
            <a:off x="4636008" y="5129784"/>
            <a:ext cx="457200" cy="457200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40" name="Text 38"/>
          <p:cNvSpPr/>
          <p:nvPr/>
        </p:nvSpPr>
        <p:spPr>
          <a:xfrm>
            <a:off x="4636008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21224" y="5029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朋友社群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5221224" y="5358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出遊、觀賽、聚餐等需合力眾籌點數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229600" y="489204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1B2A5C"/>
          </a:solidFill>
          <a:ln/>
        </p:spPr>
      </p:sp>
      <p:sp>
        <p:nvSpPr>
          <p:cNvPr id="44" name="Shape 42"/>
          <p:cNvSpPr/>
          <p:nvPr/>
        </p:nvSpPr>
        <p:spPr>
          <a:xfrm>
            <a:off x="8467344" y="5129784"/>
            <a:ext cx="457200" cy="457200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45" name="Text 43"/>
          <p:cNvSpPr/>
          <p:nvPr/>
        </p:nvSpPr>
        <p:spPr>
          <a:xfrm>
            <a:off x="8467344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52560" y="5029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周邊微型商家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9052560" y="5358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想以捷運點優惠導流的 O2O 合作夥伴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566928" y="6080760"/>
            <a:ext cx="11055096" cy="502920"/>
          </a:xfrm>
          <a:prstGeom prst="roundRect">
            <a:avLst>
              <a:gd name="adj" fmla="val 14545"/>
            </a:avLst>
          </a:prstGeom>
          <a:solidFill>
            <a:srgbClr val="FF7A2F"/>
          </a:solidFill>
          <a:ln/>
        </p:spPr>
      </p:sp>
      <p:sp>
        <p:nvSpPr>
          <p:cNvPr id="49" name="Text 47"/>
          <p:cNvSpPr/>
          <p:nvPr/>
        </p:nvSpPr>
        <p:spPr>
          <a:xfrm>
            <a:off x="795528" y="6080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解法定位｜以「社群力量 × 生成式 AI」，將零碎點數點燃為串聯日常生活的智慧動力，全面活化捷運點生態圈。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82296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155448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54864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73152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46304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64008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128016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0" y="82296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48056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566928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493776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466344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0" y="576072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0" y="612648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612880" y="384048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3504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11480"/>
            <a:ext cx="100584" cy="27432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解決方案設計 · 兩大核心引擎與 O2O 閉環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8046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如何運作：從通勤軌跡到線下消費的完整閉環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66928" y="141732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1417320"/>
            <a:ext cx="109728" cy="1783080"/>
          </a:xfrm>
          <a:prstGeom prst="rect">
            <a:avLst/>
          </a:prstGeom>
          <a:solidFill>
            <a:srgbClr val="F5C24B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" y="15361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智慧社群金庫 Social Vault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86968" y="1993392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家庭／伴侶多帳戶共同點數池，大幅縮短高價值兌換週期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「快閃戰隊金庫」：好友為特定活動臨時眾籌點數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活動後依貢獻度智能拆帳，公開透明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27648" y="141732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7648" y="1417320"/>
            <a:ext cx="109728" cy="178308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8" name="Text 26"/>
          <p:cNvSpPr/>
          <p:nvPr/>
        </p:nvSpPr>
        <p:spPr>
          <a:xfrm>
            <a:off x="6647688" y="15361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動態任務引擎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47688" y="1993392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即時分析進出站軌跡，偵測集體出遊意圖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生成個人化限時任務（如：週五雙人中山站出站享 5 倍回饋）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 審核線下消費照片，即時派點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7A2F"/>
                </a:solidFill>
              </a:rPr>
              <a:t>O2O 消費閉環　CLOSED LOOP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379476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1B2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" y="3995928"/>
            <a:ext cx="475488" cy="475488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389888" y="39776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通勤軌跡偵測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86384" y="450799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雙人同行出站，動態島擴張分析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163824" y="3794760"/>
            <a:ext cx="210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2F"/>
                </a:solidFill>
              </a:rPr>
              <a:t>▸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55848" y="379476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1B2A5C"/>
          </a:solidFill>
          <a:ln/>
        </p:spPr>
      </p:sp>
      <p:sp>
        <p:nvSpPr>
          <p:cNvPr id="38" name="Shape 36"/>
          <p:cNvSpPr/>
          <p:nvPr/>
        </p:nvSpPr>
        <p:spPr>
          <a:xfrm>
            <a:off x="3575304" y="3995928"/>
            <a:ext cx="475488" cy="475488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39" name="Text 37"/>
          <p:cNvSpPr/>
          <p:nvPr/>
        </p:nvSpPr>
        <p:spPr>
          <a:xfrm>
            <a:off x="3575304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178808" y="39776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生成限時任務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575304" y="450799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即時推播個人化任務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52744" y="3794760"/>
            <a:ext cx="210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2F"/>
                </a:solidFill>
              </a:rPr>
              <a:t>▸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44768" y="379476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1B2A5C"/>
          </a:solidFill>
          <a:ln/>
        </p:spPr>
      </p:sp>
      <p:sp>
        <p:nvSpPr>
          <p:cNvPr id="44" name="Shape 42"/>
          <p:cNvSpPr/>
          <p:nvPr/>
        </p:nvSpPr>
        <p:spPr>
          <a:xfrm>
            <a:off x="6364224" y="3995928"/>
            <a:ext cx="475488" cy="475488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45" name="Text 43"/>
          <p:cNvSpPr/>
          <p:nvPr/>
        </p:nvSpPr>
        <p:spPr>
          <a:xfrm>
            <a:off x="6364224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967728" y="39776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線下商圈消費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364224" y="450799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合作店家完成雙人套餐消費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741664" y="3794760"/>
            <a:ext cx="210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2F"/>
                </a:solidFill>
              </a:rPr>
              <a:t>▸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33688" y="3794760"/>
            <a:ext cx="2615184" cy="1170432"/>
          </a:xfrm>
          <a:prstGeom prst="roundRect">
            <a:avLst>
              <a:gd name="adj" fmla="val 7031"/>
            </a:avLst>
          </a:prstGeom>
          <a:solidFill>
            <a:srgbClr val="1B2A5C"/>
          </a:solidFill>
          <a:ln/>
        </p:spPr>
      </p:sp>
      <p:sp>
        <p:nvSpPr>
          <p:cNvPr id="50" name="Shape 48"/>
          <p:cNvSpPr/>
          <p:nvPr/>
        </p:nvSpPr>
        <p:spPr>
          <a:xfrm>
            <a:off x="9153144" y="3995928"/>
            <a:ext cx="475488" cy="475488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51" name="Text 49"/>
          <p:cNvSpPr/>
          <p:nvPr/>
        </p:nvSpPr>
        <p:spPr>
          <a:xfrm>
            <a:off x="9153144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756648" y="39776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驗證派點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153144" y="450799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辨識收據比對票證，點數注入金庫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6928" y="5230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7A2F"/>
                </a:solidFill>
              </a:rPr>
              <a:t>雲端原生技術架構　TECH STACK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66928" y="5522976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41F45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" y="55229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· GCP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374136" y="5522976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41F45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65576" y="55229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· LightGBM／XGBoost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81344" y="5522976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41F45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2784" y="55229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Cloud Run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988552" y="5522976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41F45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9992" y="55229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Gemini ＋ Vision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66928" y="6236208"/>
            <a:ext cx="11055096" cy="457200"/>
          </a:xfrm>
          <a:prstGeom prst="roundRect">
            <a:avLst>
              <a:gd name="adj" fmla="val 14000"/>
            </a:avLst>
          </a:prstGeom>
          <a:solidFill>
            <a:srgbClr val="20305F"/>
          </a:solidFill>
          <a:ln/>
        </p:spPr>
      </p:sp>
      <p:sp>
        <p:nvSpPr>
          <p:cNvPr id="64" name="Text 62"/>
          <p:cNvSpPr/>
          <p:nvPr/>
        </p:nvSpPr>
        <p:spPr>
          <a:xfrm>
            <a:off x="795528" y="6236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效益</a:t>
            </a:r>
            <a:r>
              <a:rPr lang="en-US" sz="125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MAU (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月活躍用戶數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與點數流動性</a:t>
            </a:r>
            <a:r>
              <a:rPr lang="en-US" sz="125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×　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拓展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O2O 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微型通路</a:t>
            </a:r>
            <a:r>
              <a:rPr lang="en-US" sz="125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×　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LBS</a:t>
            </a:r>
            <a:r>
              <a:rPr lang="zh-TW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altLang="zh-TW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zh-TW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適地性</a:t>
            </a:r>
            <a:r>
              <a:rPr lang="en-US" altLang="zh-TW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精準行銷變現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82296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155448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54864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73152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46304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64008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128016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0" y="82296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48056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566928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493776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0" y="466344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0" y="5760720"/>
            <a:ext cx="54864" cy="5486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0" y="6126480"/>
            <a:ext cx="32004" cy="3200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612880" y="3840480"/>
            <a:ext cx="32004" cy="32004"/>
          </a:xfrm>
          <a:prstGeom prst="ellipse">
            <a:avLst/>
          </a:prstGeom>
          <a:solidFill>
            <a:srgbClr val="F5C24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6035040"/>
            <a:ext cx="54864" cy="54864"/>
          </a:xfrm>
          <a:prstGeom prst="ellipse">
            <a:avLst/>
          </a:prstGeom>
          <a:solidFill>
            <a:srgbClr val="AFC3F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11480"/>
            <a:ext cx="100584" cy="274320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7/18 工作坊 · 向台北捷運公司輔導員請教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8046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我們想釐清的問題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6928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　資料需求（訓練模型與商模所需）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1874520"/>
            <a:ext cx="5440680" cy="1152144"/>
          </a:xfrm>
          <a:prstGeom prst="roundRect">
            <a:avLst>
              <a:gd name="adj" fmla="val 7143"/>
            </a:avLst>
          </a:prstGeom>
          <a:solidFill>
            <a:srgbClr val="141F45"/>
          </a:solidFill>
          <a:ln w="12700">
            <a:solidFill>
              <a:srgbClr val="F5C24B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6384" y="2075688"/>
            <a:ext cx="457200" cy="457200"/>
          </a:xfrm>
          <a:prstGeom prst="ellipse">
            <a:avLst/>
          </a:prstGeom>
          <a:solidFill>
            <a:srgbClr val="F5C24B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500"/>
                </a:solidFill>
              </a:rPr>
              <a:t>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2020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進出站紀錄 ＋ 用戶屬性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371600" y="23865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30" dirty="0" err="1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能否提供去識別化的進出站軌跡，並對應性別、年齡、族群等屬性？用於訓練「出站意圖偵測」模型</a:t>
            </a:r>
            <a:r>
              <a:rPr lang="en-US" sz="113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66928" y="3172968"/>
            <a:ext cx="5440680" cy="1152144"/>
          </a:xfrm>
          <a:prstGeom prst="roundRect">
            <a:avLst>
              <a:gd name="adj" fmla="val 7143"/>
            </a:avLst>
          </a:prstGeom>
          <a:solidFill>
            <a:srgbClr val="141F45"/>
          </a:solidFill>
          <a:ln w="12700">
            <a:solidFill>
              <a:srgbClr val="F5C24B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" y="3374136"/>
            <a:ext cx="457200" cy="457200"/>
          </a:xfrm>
          <a:prstGeom prst="ellipse">
            <a:avLst/>
          </a:prstGeom>
          <a:solidFill>
            <a:srgbClr val="F5C24B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500"/>
                </a:solidFill>
              </a:rPr>
              <a:t>Q2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商家名單 ＋ 兌換行為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371600" y="36850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能否提供捷運周邊商家名單，以及捷點 App 現有兌換用戶的屬性與其兌換的商品品項？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566928" y="461772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2A1608"/>
          </a:solidFill>
          <a:ln w="19050">
            <a:solidFill>
              <a:srgbClr val="FF7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617720"/>
            <a:ext cx="109728" cy="1481328"/>
          </a:xfrm>
          <a:prstGeom prst="rect">
            <a:avLst/>
          </a:prstGeom>
          <a:solidFill>
            <a:srgbClr val="FF7A2F"/>
          </a:solidFill>
          <a:ln/>
        </p:spPr>
      </p:sp>
      <p:sp>
        <p:nvSpPr>
          <p:cNvPr id="35" name="Text 33"/>
          <p:cNvSpPr/>
          <p:nvPr/>
        </p:nvSpPr>
        <p:spPr>
          <a:xfrm>
            <a:off x="886968" y="47731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最關鍵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" y="51206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屬性資料與 Q3 同行判定的可得性，直接決定「出站意圖偵測模型」能否訓練——是整套 GenAI 任務引擎的地基，盼工作坊優先確認。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82512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　可行性釐清（建議一併確認）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82512" y="187452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2020824"/>
            <a:ext cx="420624" cy="420624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0" y="19751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「同行關係」能否從資料識別？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0" y="2295144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票證資料能否關聯多名乘客為「同行」？此為動態任務引擎偵測集體出遊意圖的前提。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6382512" y="296265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3108960"/>
            <a:ext cx="420624" cy="420624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32320" y="3063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點數制度是否允許轉移／合併？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32320" y="338328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捷運點能否於帳戶間轉移或匯集（社群金庫前提）？加碼回饋的點數成本由誰負擔？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6382512" y="40507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4197096"/>
            <a:ext cx="420624" cy="420624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132320" y="41513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去識別化資料能否上雲？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132320" y="4471416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票證資料匯入 GCP／BigQuery 的合規性、去識別化標準與資料落地限制為何？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6382512" y="5138928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5285232"/>
            <a:ext cx="420624" cy="420624"/>
          </a:xfrm>
          <a:prstGeom prst="ellipse">
            <a:avLst/>
          </a:prstGeom>
          <a:solidFill>
            <a:srgbClr val="FF7A2F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132320" y="52395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C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黑客松期間實際可提供什麼？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132320" y="555955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A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可提供的資料範圍、格式、樣本量、時間區間與取得流程／時程？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303</Words>
  <Application>Microsoft Macintosh PowerPoint</Application>
  <PresentationFormat>寬螢幕</PresentationFormat>
  <Paragraphs>80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燎原智庫・點燃同行</dc:title>
  <dc:subject>PptxGenJS Presentation</dc:subject>
  <dc:creator>捷點星火聯盟</dc:creator>
  <cp:lastModifiedBy>Microsoft Office User</cp:lastModifiedBy>
  <cp:revision>5</cp:revision>
  <dcterms:created xsi:type="dcterms:W3CDTF">2026-07-05T09:05:43Z</dcterms:created>
  <dcterms:modified xsi:type="dcterms:W3CDTF">2026-07-10T08:40:01Z</dcterms:modified>
</cp:coreProperties>
</file>